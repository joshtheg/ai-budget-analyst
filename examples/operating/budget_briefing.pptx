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Happy Hollow Park &amp; Zoo</c:v>
                </c:pt>
                <c:pt idx="1">
                  <c:v>Parks Maintenance &amp; Operatio</c:v>
                </c:pt>
                <c:pt idx="2">
                  <c:v>Recreation &amp; Community Servi</c:v>
                </c:pt>
                <c:pt idx="3">
                  <c:v>Administrative Services</c:v>
                </c:pt>
                <c:pt idx="4">
                  <c:v>Strategic Support</c:v>
                </c:pt>
                <c:pt idx="5">
                  <c:v>Community Facilities Develop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18380578.36</c:v>
                </c:pt>
                <c:pt idx="1">
                  <c:v>42925274.41</c:v>
                </c:pt>
                <c:pt idx="2">
                  <c:v>39215959.54</c:v>
                </c:pt>
                <c:pt idx="3">
                  <c:v>13802179.78</c:v>
                </c:pt>
                <c:pt idx="4">
                  <c:v>7908872.2</c:v>
                </c:pt>
                <c:pt idx="5">
                  <c:v>10322100.93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Happy Hollow Park &amp; Zoo</c:v>
                </c:pt>
                <c:pt idx="1">
                  <c:v>Parks Maintenance &amp; Operatio</c:v>
                </c:pt>
                <c:pt idx="2">
                  <c:v>Recreation &amp; Community Servi</c:v>
                </c:pt>
                <c:pt idx="3">
                  <c:v>Administrative Services</c:v>
                </c:pt>
                <c:pt idx="4">
                  <c:v>Strategic Support</c:v>
                </c:pt>
                <c:pt idx="5">
                  <c:v>Community Facilities Develop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19227954.69</c:v>
                </c:pt>
                <c:pt idx="1">
                  <c:v>43576433.93</c:v>
                </c:pt>
                <c:pt idx="2">
                  <c:v>39478985.29</c:v>
                </c:pt>
                <c:pt idx="3">
                  <c:v>13113623.4</c:v>
                </c:pt>
                <c:pt idx="4">
                  <c:v>7281874.76</c:v>
                </c:pt>
                <c:pt idx="5">
                  <c:v>8733417.56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Budget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Source: sample_prns_operating_budget.csv</a:t>
            </a:r>
          </a:p>
          <a:p>
            <a:pPr>
              <a:defRPr sz="1600"/>
            </a:pPr>
            <a:r>
              <a:t>Period: FY 2025-26  |  Prepared July 07, 2026  |  AI Budget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Headline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Total budget:  $132,554,965</a:t>
            </a:r>
          </a:p>
          <a:p>
            <a:pPr>
              <a:spcAft>
                <a:spcPts val="1400"/>
              </a:spcAft>
              <a:defRPr sz="2400"/>
            </a:pPr>
            <a:r>
              <a:t>Actual expenditures:  $131,412,290</a:t>
            </a:r>
          </a:p>
          <a:p>
            <a:pPr>
              <a:spcAft>
                <a:spcPts val="1400"/>
              </a:spcAft>
              <a:defRPr sz="2400"/>
            </a:pPr>
            <a:r>
              <a:t>% of budget spent:  99.14%</a:t>
            </a:r>
          </a:p>
          <a:p>
            <a:pPr>
              <a:spcAft>
                <a:spcPts val="1400"/>
              </a:spcAft>
              <a:defRPr sz="2400"/>
            </a:pPr>
            <a:r>
              <a:t>Revenue attainment:  93.99% of $33,024,667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Budget vs. Actual by Division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18872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Findings &amp; 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Findings</a:t>
            </a:r>
          </a:p>
          <a:p>
            <a:pPr>
              <a:spcAft>
                <a:spcPts val="600"/>
              </a:spcAft>
              <a:defRPr sz="1500"/>
            </a:pPr>
            <a:r>
              <a:t>• 99.14% of the $132,554,965 budget spent ($131,412,290); net variance $1,142,676.</a:t>
            </a:r>
          </a:p>
          <a:p>
            <a:pPr>
              <a:spcAft>
                <a:spcPts val="600"/>
              </a:spcAft>
              <a:defRPr sz="1500"/>
            </a:pPr>
            <a:r>
              <a:t>• Highest spend vs. budget: Happy Hollow Park &amp; Zoo (+4.6%); largest underspend: Community Facilities Development (-15.4%).</a:t>
            </a:r>
          </a:p>
          <a:p>
            <a:pPr>
              <a:spcAft>
                <a:spcPts val="600"/>
              </a:spcAft>
              <a:defRPr sz="1500"/>
            </a:pPr>
            <a:r>
              <a:t>• Revenue at 93.99% of the $33,024,667 target; weakest: Recreation &amp; Community Services (91.8%).</a:t>
            </a:r>
          </a:p>
          <a:p>
            <a:pPr>
              <a:spcAft>
                <a:spcPts val="600"/>
              </a:spcAft>
              <a:defRPr sz="1500"/>
            </a:pPr>
            <a:r>
              <a:t>• Next-period projection: $138,925,668 (linear least-squares over 4 periods, R² = 0.9994).</a:t>
            </a:r>
          </a:p>
          <a:p>
            <a:pPr>
              <a:defRPr sz="2000" b="1">
                <a:solidFill>
                  <a:srgbClr val="1F4E79"/>
                </a:solidFill>
              </a:defRPr>
            </a:pPr>
            <a:r>
              <a:t>Recommended actions</a:t>
            </a:r>
          </a:p>
          <a:p>
            <a:pPr>
              <a:spcAft>
                <a:spcPts val="600"/>
              </a:spcAft>
              <a:defRPr sz="1500"/>
            </a:pPr>
            <a:r>
              <a:t>• Review flagged outlier units with program managers before close.</a:t>
            </a:r>
          </a:p>
          <a:p>
            <a:pPr>
              <a:spcAft>
                <a:spcPts val="600"/>
              </a:spcAft>
              <a:defRPr sz="1500"/>
            </a:pPr>
            <a:r>
              <a:t>• Reconcile top variance lines against encumbrances and timing effects.</a:t>
            </a:r>
          </a:p>
          <a:p>
            <a:pPr>
              <a:spcAft>
                <a:spcPts val="600"/>
              </a:spcAft>
              <a:defRPr sz="1500"/>
            </a:pPr>
            <a:r>
              <a:t>• Re-run when the next actuals post; the deck rebuilds in one command.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
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Trail Segment #2</c:v>
                </c:pt>
                <c:pt idx="1">
                  <c:v>Community Center HVAC #2</c:v>
                </c:pt>
                <c:pt idx="2">
                  <c:v>Restroom Replacement #2</c:v>
                </c:pt>
                <c:pt idx="3">
                  <c:v>Pool Rehab #2</c:v>
                </c:pt>
                <c:pt idx="4">
                  <c:v>Playground Renovation #3</c:v>
                </c:pt>
                <c:pt idx="5">
                  <c:v>Trail Segment #1</c:v>
                </c:pt>
                <c:pt idx="6">
                  <c:v>Playground Renovation #1</c:v>
                </c:pt>
                <c:pt idx="7">
                  <c:v>Restroom Replacement #3</c:v>
                </c:pt>
                <c:pt idx="8">
                  <c:v>Restroom Replacement #4</c:v>
                </c:pt>
                <c:pt idx="9">
                  <c:v>Trail Segment #3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5029571.17</c:v>
                </c:pt>
                <c:pt idx="1">
                  <c:v>5903379.59</c:v>
                </c:pt>
                <c:pt idx="2">
                  <c:v>7055021.79</c:v>
                </c:pt>
                <c:pt idx="3">
                  <c:v>8506255.51</c:v>
                </c:pt>
                <c:pt idx="4">
                  <c:v>4200736.43</c:v>
                </c:pt>
                <c:pt idx="5">
                  <c:v>6775556.4</c:v>
                </c:pt>
                <c:pt idx="6">
                  <c:v>13401218.13</c:v>
                </c:pt>
                <c:pt idx="7">
                  <c:v>6218783.42</c:v>
                </c:pt>
                <c:pt idx="8">
                  <c:v>2891421.45</c:v>
                </c:pt>
                <c:pt idx="9">
                  <c:v>8294960.85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Trail Segment #2</c:v>
                </c:pt>
                <c:pt idx="1">
                  <c:v>Community Center HVAC #2</c:v>
                </c:pt>
                <c:pt idx="2">
                  <c:v>Restroom Replacement #2</c:v>
                </c:pt>
                <c:pt idx="3">
                  <c:v>Pool Rehab #2</c:v>
                </c:pt>
                <c:pt idx="4">
                  <c:v>Playground Renovation #3</c:v>
                </c:pt>
                <c:pt idx="5">
                  <c:v>Trail Segment #1</c:v>
                </c:pt>
                <c:pt idx="6">
                  <c:v>Playground Renovation #1</c:v>
                </c:pt>
                <c:pt idx="7">
                  <c:v>Restroom Replacement #3</c:v>
                </c:pt>
                <c:pt idx="8">
                  <c:v>Restroom Replacement #4</c:v>
                </c:pt>
                <c:pt idx="9">
                  <c:v>Trail Segment #3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3901291.49</c:v>
                </c:pt>
                <c:pt idx="1">
                  <c:v>4436623.11</c:v>
                </c:pt>
                <c:pt idx="2">
                  <c:v>5218622.05</c:v>
                </c:pt>
                <c:pt idx="3">
                  <c:v>6154311.49</c:v>
                </c:pt>
                <c:pt idx="4">
                  <c:v>2954692.97</c:v>
                </c:pt>
                <c:pt idx="5">
                  <c:v>4748883.61</c:v>
                </c:pt>
                <c:pt idx="6">
                  <c:v>8980898.07</c:v>
                </c:pt>
                <c:pt idx="7">
                  <c:v>3739844.3</c:v>
                </c:pt>
                <c:pt idx="8">
                  <c:v>1726133.75</c:v>
                </c:pt>
                <c:pt idx="9">
                  <c:v>4942695.5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Budget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0"/>
            <a:ext cx="10972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Source: sample_prns_capital_funds.csv</a:t>
            </a:r>
          </a:p>
          <a:p>
            <a:pPr>
              <a:defRPr sz="1600"/>
            </a:pPr>
            <a:r>
              <a:t>Period: FY 2025-26  |  Prepared July 07, 2026  |  AI Budget Analyst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Headline Figures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/>
            </a:pPr>
            <a:r>
              <a:t>Total budget:  $130,284,063</a:t>
            </a:r>
          </a:p>
          <a:p>
            <a:pPr>
              <a:spcAft>
                <a:spcPts val="1400"/>
              </a:spcAft>
              <a:defRPr sz="2400"/>
            </a:pPr>
            <a:r>
              <a:t>Actual expenditures:  $71,525,619</a:t>
            </a:r>
          </a:p>
          <a:p>
            <a:pPr>
              <a:spcAft>
                <a:spcPts val="1400"/>
              </a:spcAft>
              <a:defRPr sz="2400"/>
            </a:pPr>
            <a:r>
              <a:t>% of budget spent:  54.9%</a:t>
            </a:r>
          </a:p>
          <a:p>
            <a:pPr>
              <a:spcAft>
                <a:spcPts val="1400"/>
              </a:spcAft>
              <a:defRPr sz="2400"/>
            </a:pPr>
            <a:r>
              <a:t>Encumbered:  $20,945,358</a:t>
            </a:r>
          </a:p>
          <a:p>
            <a:pPr>
              <a:spcAft>
                <a:spcPts val="1400"/>
              </a:spcAft>
              <a:defRPr sz="2400"/>
            </a:pPr>
            <a:r>
              <a:t>Available balance:  $37,813,085</a:t>
            </a:r>
          </a:p>
          <a:p>
            <a:pPr>
              <a:spcAft>
                <a:spcPts val="1400"/>
              </a:spcAft>
              <a:defRPr sz="2400"/>
            </a:pPr>
            <a:r>
              <a:t>Revenue attainment:  98.46% of $116,797,192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Budget vs. Actual by Project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18872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Findings &amp; Recommended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4E79"/>
                </a:solidFill>
              </a:defRPr>
            </a:pPr>
            <a:r>
              <a:t>Findings</a:t>
            </a:r>
          </a:p>
          <a:p>
            <a:pPr>
              <a:spcAft>
                <a:spcPts val="600"/>
              </a:spcAft>
              <a:defRPr sz="1500"/>
            </a:pPr>
            <a:r>
              <a:t>• 54.9% of the $130,284,063 budget spent ($71,525,619); net variance $58,758,444.</a:t>
            </a:r>
          </a:p>
          <a:p>
            <a:pPr>
              <a:spcAft>
                <a:spcPts val="600"/>
              </a:spcAft>
              <a:defRPr sz="1500"/>
            </a:pPr>
            <a:r>
              <a:t>• Including $20,945,358 encumbered, 70.98% of budget is committed; $37,813,085 remains available.</a:t>
            </a:r>
          </a:p>
          <a:p>
            <a:pPr>
              <a:spcAft>
                <a:spcPts val="600"/>
              </a:spcAft>
              <a:defRPr sz="1500"/>
            </a:pPr>
            <a:r>
              <a:t>• Highest spend vs. budget: Trail Segment #2 (-22.4%); largest underspend: Pool Rehab #1 (-77.4%).</a:t>
            </a:r>
          </a:p>
          <a:p>
            <a:pPr>
              <a:spcAft>
                <a:spcPts val="600"/>
              </a:spcAft>
              <a:defRPr sz="1500"/>
            </a:pPr>
            <a:r>
              <a:t>• Revenue at 98.46% of the $116,797,192 target; weakest: Sports Field Lighting #4 (81.8%).</a:t>
            </a:r>
          </a:p>
          <a:p>
            <a:pPr>
              <a:spcAft>
                <a:spcPts val="600"/>
              </a:spcAft>
              <a:defRPr sz="1500"/>
            </a:pPr>
            <a:r>
              <a:t>• Across 12 funds, tightest available balance is C&amp;C Tax Fund - Council District 2 ($1,174,990).</a:t>
            </a:r>
          </a:p>
          <a:p>
            <a:pPr>
              <a:spcAft>
                <a:spcPts val="600"/>
              </a:spcAft>
              <a:defRPr sz="1500"/>
            </a:pPr>
            <a:r>
              <a:t>• Next-period projection: $81,198,191 (linear least-squares over 4 periods, R² = 0.4496).</a:t>
            </a:r>
          </a:p>
          <a:p>
            <a:pPr>
              <a:defRPr sz="2000" b="1">
                <a:solidFill>
                  <a:srgbClr val="1F4E79"/>
                </a:solidFill>
              </a:defRPr>
            </a:pPr>
            <a:r>
              <a:t>Recommended actions</a:t>
            </a:r>
          </a:p>
          <a:p>
            <a:pPr>
              <a:spcAft>
                <a:spcPts val="600"/>
              </a:spcAft>
              <a:defRPr sz="1500"/>
            </a:pPr>
            <a:r>
              <a:t>• Review flagged outlier units with program managers before close.</a:t>
            </a:r>
          </a:p>
          <a:p>
            <a:pPr>
              <a:spcAft>
                <a:spcPts val="600"/>
              </a:spcAft>
              <a:defRPr sz="1500"/>
            </a:pPr>
            <a:r>
              <a:t>• Reconcile top variance lines against encumbrances and timing effects.</a:t>
            </a:r>
          </a:p>
          <a:p>
            <a:pPr>
              <a:spcAft>
                <a:spcPts val="600"/>
              </a:spcAft>
              <a:defRPr sz="1500"/>
            </a:pPr>
            <a:r>
              <a:t>• Re-run when the next actuals post; the deck rebuilds in one command.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